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Belajar AI untuk Pemula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6C757D"/>
                </a:solidFill>
                <a:latin typeface="Segoe UI"/>
              </a:defRPr>
            </a:pPr>
            <a:r>
              <a:rPr/>
              <a:t>Modul latihan (Regression, Classification, NN, CNN)</a:t>
            </a:r>
          </a:p>
          <a:p>
            <a:pPr>
              <a:defRPr sz="1800">
                <a:solidFill>
                  <a:srgbClr val="6C757D"/>
                </a:solidFill>
                <a:latin typeface="Segoe UI"/>
              </a:defRPr>
            </a:pPr>
            <a:r>
              <a:rPr/>
              <a:t>+ alur belajar + latihan + pembahasan + troubleshooting</a:t>
            </a:r>
          </a:p>
          <a:p>
            <a:pPr>
              <a:defRPr sz="1800">
                <a:solidFill>
                  <a:srgbClr val="6C757D"/>
                </a:solidFill>
                <a:latin typeface="Segoe UI"/>
              </a:defRPr>
            </a:pPr>
            <a:r>
              <a:rPr/>
              <a:t>Generated: 2026-02-17  |  Repo: Ai Learn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0) Cara pakai repo + cara run yang benar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1) Alur ML: Data → Train → Evaluate → Improve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2) Konsep penting: fitur/target, split, overfitting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3) Metrik regression: MAE / RMSE / R² (cara baca)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4) Metrik classification: accuracy / precision / recall / F1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5) Modul 1–4 + latihan + pembahasan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6) Troubleshooting + checklist project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Isi Repo (Yang Akan Anda Pakai)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Program latihan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Dokumentasi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01_linear_regression.py  (Regression)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02_classification.py  (Classification)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03_neural_network.py  (MNIST NN)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04_computer_vision.py  (CNN CIFAR-10)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BUKU_PANDUAN_AI.pdf  (buku modul)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AI_Learning_Modul.pptx  (slide ini)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TUTORIAL.md  (cara run + tips)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PANDUAN.md  (perilaku normal vs error)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GLOSSARY.md  (istilah)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Prinsip: baca 1–2 halaman → jalankan 1 program → ubah 1 parameter → catat hasil.</a:t>
            </a:r>
          </a:p>
        </p:txBody>
      </p:sp>
      <p:sp>
        <p:nvSpPr>
          <p:cNvPr id="9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Alur Belajar (Flow)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-73151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Setup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75564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2029967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Data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5876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4133087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Train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6236207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Evaluate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06500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8339327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Improve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016812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10442448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108960"/>
            <a:ext cx="10972800" cy="2286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Kalau Anda bingung: kembali ke flow ini. Semua modul mengikuti pola yang sama.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Target akhir: Anda bisa menjelaskan 2 hal — (1) hasil/metric, (2) mengapa hasilnya begitu.</a:t>
            </a:r>
          </a:p>
        </p:txBody>
      </p:sp>
      <p:sp>
        <p:nvSpPr>
          <p:cNvPr id="1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0)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Pastikan cara run benar (biar tidak error palsu)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Cara Menjalankan (Windows PowerShell)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Selalu jalankan Python dari .venv project (bukan Python global).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Format perintah: &amp; "./.venv/Scripts/python.exe" &lt;nama_file.py&gt;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200400"/>
            <a:ext cx="10972800" cy="20116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37160" tIns="91440" bIns="91440"/>
          <a:lstStyle/>
          <a:p>
            <a:pPr algn="ctr"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01_linear_regression.py</a:t>
            </a:r>
          </a:p>
          <a:p>
            <a:pPr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02_classification.py</a:t>
            </a:r>
          </a:p>
          <a:p>
            <a:pPr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03_neural_network.py</a:t>
            </a:r>
          </a:p>
          <a:p>
            <a:pPr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04_computer_vision.py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Jika Anda pakai VS Code: pastikan interpreter VS Code juga menunjuk ke .venv.</a:t>
            </a:r>
          </a:p>
        </p:txBody>
      </p:sp>
      <p:sp>
        <p:nvSpPr>
          <p:cNvPr id="7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Matplotlib: Grafik Muncul, Lalu Apa?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Perilaku 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Yang sering disangka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Program berhenti sejenak di plt.show()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Anda melihat grafik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Tutup window grafik → program lanjut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Tutup window lalu muncul KeyboardInterrupt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Atau Anda tekan Ctrl+C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Artinya program dihentikan manual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Rule of thumb: kalau hasil sudah keluar dan Anda yang menghentikan, itu bukan bug.</a:t>
            </a:r>
          </a:p>
        </p:txBody>
      </p:sp>
      <p:sp>
        <p:nvSpPr>
          <p:cNvPr id="9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1) Fondasi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Konsep wajib sebelum masuk ke model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Fitur (X) dan Target (y)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Fitur (X): data input yang dipakai model untuk membuat prediksi.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Target (y): jawaban yang ingin dipelajari model.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Regression: y berupa angka (mis. harga).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Classification: y berupa kelas (mis. spam / tidak).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Kesalahan umum: fitur bocor (data leakage) — memasukkan info masa depan ke fitur.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Train / Validation /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Train: data untuk belajar (fit).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Validation: data untuk memilih setting (hyperparameter).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Test: data untuk evaluasi final (simulasi dunia nyata).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Kalau pemula: minimal train/test dulu, lalu tambah validation saat tuning.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Prinsip: test hanya dipakai sekali untuk hasil final.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Overfitting vs Underfitting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Underfitting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Overfitting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Model terlalu sederhana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Train score rendah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Test score rendah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Solusi: model lebih kuat, fitur lebih informatif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Model terlalu menghafal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Train score tinggi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Test score turun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Solusi: regularisasi, data lebih banyak, early stopping</a:t>
            </a:r>
          </a:p>
        </p:txBody>
      </p:sp>
      <p:sp>
        <p:nvSpPr>
          <p:cNvPr id="8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2) Metrik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Cara membaca hasil agar tidak salah interpretasi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Regression Metrics: MAE / RMSE / R²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MAE: rata-rata selisih |aktual − prediksi| (lebih mudah dipahami).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RMSE: seperti MAE tapi menghukum error besar (lebih sensitif outlier).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R²: seberapa besar variasi y yang bisa dijelaskan model (0.0–1.0).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Interpretasi cepat: R² ~0.8+ bagus untuk data yang cukup linear.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Cara Membaca R² (Contoh)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R² = 0.90 → model menjelaskan 90% variasi harga (pola sangat tertangkap).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R² = 0.50 → masih banyak variasi yang belum terjelaskan (fitur kurang / noise tinggi).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R² &lt; 0 → model lebih buruk dari prediksi rata-rata (indikasi masalah serius).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Jangan lihat 1 metric saja: cek juga plot residual / pred vs actual jika tersedia.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Classification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Accuracy: proporsi prediksi yang benar (bagus jika kelas seimbang).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Precision: dari yang diprediksi positif, berapa yang benar positif.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Recall: dari yang sebenarnya positif, berapa yang berhasil ditangkap.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F1: rata-rata harmonik precision &amp; recall (bagus untuk data tidak seimbang).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Confusion Matrix (Cara Baca)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Makna kotak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Kapan fokus apa?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TP: benar positif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TN: benar negatif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FP: salah positif (false alarm)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FN: salah negatif (miss)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Jika false alarm mahal → perhatikan precision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Jika miss mahal → perhatikan recall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Jika seimbang → lihat F1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Iris biasanya seimbang (accuracy cukup). Pada fraud/spam, F1 lebih aman.</a:t>
            </a:r>
          </a:p>
        </p:txBody>
      </p:sp>
      <p:sp>
        <p:nvSpPr>
          <p:cNvPr id="9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Linear Regression — prediksi angka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1: Tujuan &amp;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Tujuan: memprediksi harga rumah dari ukuran.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Output: rumus garis (slope &amp; intercept), R² / MAE / RMSE, dan plot.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File: 01_linear_regression.py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4389120"/>
            <a:ext cx="10972800" cy="9144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37160" tIns="91440" bIns="91440"/>
          <a:lstStyle/>
          <a:p>
            <a:pPr algn="ctr"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01_linear_regression.py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1: Langkah di Kode (Flow)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-73151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Buat data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75564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029967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Plot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876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4133087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Split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188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236207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Fit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06500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8339327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Predict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16812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10442448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108960"/>
            <a:ext cx="10972800" cy="2286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Perhatikan: bentuk data X harus 2D untuk scikit-learn.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Jangan lupa: evaluasi pakai data test, bukan training.</a:t>
            </a:r>
          </a:p>
        </p:txBody>
      </p:sp>
      <p:sp>
        <p:nvSpPr>
          <p:cNvPr id="1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1: Mengapa Jawabannya Seperti Itu?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Linear regression mencari garis yang meminimalkan total error kuadrat (least squares).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Slope = dampak perubahan ukuran terhadap harga (per 1 m²).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Intercept = harga dasar ketika ukuran mendekati 0 (makna tergantung data).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Jika noise besar → R² turun karena pola linear tertutup variasi acak.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1: Latihan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A: Naikkan noise → apa yang terjadi pada RMSE dan R²?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B: Tambah jumlah sampel → apakah hasil makin stabil?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C: Buat outlier ekstrem → metric mana yang paling terpengaruh (MAE vs RMSE)?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Pembahasan singkat: noise/outlier biasanya membuat RMSE naik lebih tajam daripada MAE.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1: Pembahasan Latihan (Step-by-step)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A) Noise naik: titik data makin menyebar → error rata-rata naik.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   Dampak: RMSE naik, R² turun (variasi y lebih banyak dari noise).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B) Sample size naik: estimasi slope/intercept makin stabil.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   Dampak: R² biasanya lebih konsisten antar run.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C) Outlier ekstrem: error kuadrat membuat RMSE sangat sensitif.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   Dampak: RMSE melonjak, MAE naik tapi tidak setajam RMSE.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1: Contoh Kasus Nyata (Harga Rumah)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Fitur (X)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Target (y) +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Luas bangunan, luas tanah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Lokasi (jarak ke pusat kota)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Jumlah kamar, usia bangunan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Akses jalan / transportasi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Target: harga jual (angka)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Metric: MAE / RMSE (rupiah) + R²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Waspada: data leakage (harga appraisal)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Output: interval harga &amp; fitur penting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Checklist: baseline linear → tambah fitur → bandingkan MAE di test.</a:t>
            </a:r>
          </a:p>
        </p:txBody>
      </p:sp>
      <p:sp>
        <p:nvSpPr>
          <p:cNvPr id="9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Classification — Decision Tree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2: Tujuan &amp;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Tujuan: klasifikasi bunga iris ke 3 spesies.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Output: accuracy + classification report + confusion matrix + visualisasi tree.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File: 02_classification.py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4389120"/>
            <a:ext cx="10972800" cy="9144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37160" tIns="91440" bIns="91440"/>
          <a:lstStyle/>
          <a:p>
            <a:pPr algn="ctr"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02_classification.py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2: Mengapa Decision Tree Bisa Benar?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Tree membuat aturan IF-THEN yang memecah data agar tiap bagian makin 'murni'.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Split dipilih yang paling meningkatkan pemisahan kelas (gini / information gain).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Iris: petal length/width sering jadi fitur paling penting karena separasi jelas.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2: Cara Baca Confusion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Diagonal besar = banyak prediksi benar.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Jika versicolor sering diprediksi virginica: fitur overlap di area tersebut.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Fokus improvement: cek fitur tambahan / model ensemble (next level).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2: Latihan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A: Ubah max_depth (1, 2, 3, 5, None). Catat train vs test accuracy.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B: Cari fitur paling penting. Apakah selalu sama?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C: Coba cross-validation dan bandingkan dengan 1 kali split.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Pembahasan singkat: depth besar → train naik, test bisa turun (overfitting).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2: Pembahasan Latihan (Step-by-step)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A) max_depth kecil: aturan sedikit → underfitting (train &amp; test rendah).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   max_depth besar: train tinggi, test bisa turun (overfitting).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B) Fitur penting bisa berubah jika data split berubah sedikit (tree sensitif).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   Solusi: lihat rata-rata feature importance dari beberapa run.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C) Cross-validation memberi estimasi performa lebih stabil dibanding 1 kali split.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2: Contoh Kasus Nyata (Spam / Fraud)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Yang sering terjadi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Solusi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Data tidak seimbang (fraud sangat sedikit)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Accuracy bisa menipu (99% 'normal')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Biaya salah beda: FN lebih mahal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Fokus: precision / recall / F1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Confusion matrix: lihat FP vs FN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Pertimbangkan threshold tuning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Stratified split + cross-validation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Rule: pilih metric sesuai biaya bisnis, bukan sekadar accuracy.</a:t>
            </a:r>
          </a:p>
        </p:txBody>
      </p:sp>
      <p:sp>
        <p:nvSpPr>
          <p:cNvPr id="9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Neural Network — MNIST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3: Tujuan &amp;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Tujuan: mengenali digit 0–9 dari gambar.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Output: loss/accuracy per epoch + evaluasi test + prediksi contoh.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File: 03_neural_network.py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4389120"/>
            <a:ext cx="10972800" cy="9144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37160" tIns="91440" bIns="91440"/>
          <a:lstStyle/>
          <a:p>
            <a:pPr algn="ctr"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03_neural_network.py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3: Komponen NN (Yang Harus Dihafal)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Komponen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Makna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Layer: Dense / Conv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Activation: ReLU / Softmax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Loss: cross-entropy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Optimizer: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Layer = transformasi fitur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Activation = non-linearitas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Loss = ukuran salah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Optimizer = cara update weights</a:t>
            </a:r>
          </a:p>
        </p:txBody>
      </p:sp>
      <p:sp>
        <p:nvSpPr>
          <p:cNvPr id="8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3: Mengapa Prediksi Bisa Benar?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Output softmax = probabilitas 10 kelas.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Backpropagation menghitung gradien: bagaimana weights harus berubah agar loss turun.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Gradient descent / Adam melakukan update kecil berulang sampai model membaik.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Overfitting muncul jika model terlalu kompleks / epoch terlalu banyak.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3: Latihan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A: Ubah epochs (1, 3, 10). Catat train/test accuracy.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B: Tambah Dropout. Apa dampaknya pada gap train vs val?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C: Digit mana yang sering salah (mis. 4 vs 9)? Kenapa?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3: Pembahasan Latihan (Step-by-step)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A) Epoch naik: train accuracy naik; kalau val tidak naik → overfitting.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B) Dropout: train accuracy turun sedikit, tapi val/test bisa lebih stabil.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C) Digit mirip (4 vs 9): gaya tulisan bervariasi; noise bikin overlap.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   Cara cek: tampilkan contoh yang salah → amati apakah memang ambigu.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3: Contoh Kasus Nyata (OCR / Dokumen)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Masalah dunia nyata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Strategi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Foto blur, miring, cahaya buruk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Font beragam, tulisan tangan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Background mengganggu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Preprocessing (crop, threshold, denoise)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Data augmentation (rotasi, noise)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Model CNN / CRNN untuk teks panjang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Evaluasi: word error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MNIST adalah latihan dasar. OCR nyata butuh data &amp; preprocessing lebih serius.</a:t>
            </a:r>
          </a:p>
        </p:txBody>
      </p:sp>
      <p:sp>
        <p:nvSpPr>
          <p:cNvPr id="9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Computer Vision — CNN CIFAR-10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4: Tujuan &amp;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Tujuan: klasifikasi gambar warna 10 kelas.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Output: loss/accuracy + evaluasi + contoh prediksi.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File: 04_computer_vision.py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4389120"/>
            <a:ext cx="10972800" cy="9144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37160" tIns="91440" bIns="91440"/>
          <a:lstStyle/>
          <a:p>
            <a:pPr algn="ctr"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04_computer_vision.py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4: Mengapa CNN Lebih Cocok untuk Gambar?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Convolution menangkap pola lokal (edge/texture) tanpa 'melihat' seluruh gambar.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Pooling mereduksi ukuran dan membuat model tahan terhadap pergeseran kecil.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Layer awal belajar fitur sederhana; layer akhir belajar konsep objek.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4: Latihan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A: Tambah filter (16→32) dan lihat akurasi + waktu training.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B: Tambah 1 layer conv. Akurasi naik atau overfitting?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Latihan C: Kurangi epoch untuk eksperimen cepat. Trade-off waktu vs performa?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4: Pembahasan Latihan (Step-by-step)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A) Filter naik: kapasitas naik → akurasi bisa naik, tapi training lebih lama.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B) Layer bertambah: pola lebih kompleks, tapi risiko overfitting naik.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C) Epoch turun: cepat untuk eksperimen, tapi mungkin belum konvergen.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   Praktik: baseline cepat dulu → training lama saat arsitektur oke.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Modul 4: Kasus Nyata (Quality Check / Klasifikasi Produk)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Contoh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Catatan penting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Deteksi cacat produk (retak/lecet)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Klasifikasi jenis barang di gudang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Klasifikasi makanan (fresh / tidak)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Data harus representatif (cahaya, sudut)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Evaluasi per kelas (minoritas sering gagal)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Waspada: domain shift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Solusi: transfer learning + monitoring</a:t>
            </a:r>
          </a:p>
        </p:txBody>
      </p:sp>
      <p:sp>
        <p:nvSpPr>
          <p:cNvPr id="8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Jika ada error, cek ini dulu (urut)!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1) Pastikan Interpreter Benar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Gejala: ModuleNotFoundError / versi package tidak sesuai.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Solusi: jalankan dengan .venv dan cek sys.executable.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474720"/>
            <a:ext cx="10972800" cy="9144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37160" tIns="91440" bIns="91440"/>
          <a:lstStyle/>
          <a:p>
            <a:pPr algn="ctr"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-c "import sys; print(sys.executable)"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2) Install Dependency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Jika pip install gagal: update pip dulu.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Install paket satu per satu untuk menemukan penyebab.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474720"/>
            <a:ext cx="10972800" cy="128016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37160" tIns="91440" bIns="91440"/>
          <a:lstStyle/>
          <a:p>
            <a:pPr algn="ctr"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-m pip install --upgrade pip</a:t>
            </a:r>
          </a:p>
          <a:p>
            <a:pPr>
              <a:defRPr sz="1800">
                <a:latin typeface="Segoe UI"/>
              </a:defRPr>
            </a:pPr>
            <a:r>
              <a:rPr sz="1400">
                <a:solidFill>
                  <a:srgbClr val="212529"/>
                </a:solidFill>
                <a:latin typeface="Consolas"/>
              </a:rPr>
              <a:t>&amp; "./.venv/Scripts/python.exe" -m pip install -r requirements.txt</a:t>
            </a:r>
          </a:p>
        </p:txBody>
      </p:sp>
      <p:sp>
        <p:nvSpPr>
          <p:cNvPr id="6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3) Program Terasa Lama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Kemungkinan: download dataset (MNIST/CIFAR) pertama kali.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Kemungkinan: training berjalan di CPU (wajar lebih lambat).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Solusi cepat: kurangi epoch dulu untuk eksperimen.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Solusi: pastikan storage cukup dan internet stabil.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Cara Mencatat Eksperimen (Wajib)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Buat tabel sederhana: (Tanggal, Model, Setting, Metric, Catatan).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Ubah 1 hal saja per eksperimen (epoch, depth, filter, dll.).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Simpan hasil: screenshot plot / log training / confusion matrix.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Tujuan: menjawab 'perubahan apa yang membuat model membaik?'.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Checklist Evaluasi (Agar Tidak Salah Klaim)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Apakah test set tidak pernah dipakai saat tuning?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Apakah metric sesuai problem (dan biaya bisnis)?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Apakah ada data leakage?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Apakah Anda cek error cases (contoh yang salah)?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Apakah performa stabil (cross-validation / beberapa seed)?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Next Step: Deploy Sederhana (Opsional)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Pilihan mudah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CC"/>
                </a:solidFill>
                <a:latin typeface="Segoe UI Semibold"/>
              </a:defRPr>
            </a:pPr>
            <a:r>
              <a:rPr/>
              <a:t>Yang perlu dipikirkan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Streamlit: UI cepat untuk demo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FastAPI: API endpoint untuk model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Notebook: laporan eksperimen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Simpan model (joblib / keras .h5)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Input validation (hindari input aneh)</a:t>
            </a:r>
          </a:p>
          <a:p>
            <a:pPr>
              <a:spcAft>
                <a:spcPts val="500"/>
              </a:spcAft>
              <a:defRPr sz="1600">
                <a:solidFill>
                  <a:srgbClr val="212529"/>
                </a:solidFill>
                <a:latin typeface="Segoe UI"/>
              </a:defRPr>
            </a:pPr>
            <a:r>
              <a:rPr/>
              <a:t>Monitoring: data baru beda dari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73152" bIns="73152"/>
          <a:lstStyle/>
          <a:p>
            <a:pPr algn="ctr">
              <a:defRPr sz="1300">
                <a:solidFill>
                  <a:srgbClr val="6C757D"/>
                </a:solidFill>
                <a:latin typeface="Segoe UI"/>
              </a:defRPr>
            </a:pPr>
            <a:r>
              <a:rPr/>
              <a:t>Saya bisa bantu buat 1 demo Streamlit untuk Modul 1 atau 2.</a:t>
            </a:r>
          </a:p>
        </p:txBody>
      </p:sp>
      <p:sp>
        <p:nvSpPr>
          <p:cNvPr id="9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Portofolio (Agar Terlihat Progress)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Buat 2–3 repo kecil: 1 regression, 1 classification, 1 vision.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Setiap repo wajib ada: README, cara run, metric, contoh output.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Tulis 'mengapa' Anda memilih metric/model tersebut.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Ini yang membedakan 'sekadar run code' vs 'paham alur AI'.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Next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C757D"/>
                </a:solidFill>
                <a:latin typeface="Segoe UI"/>
              </a:defRPr>
            </a:pPr>
            <a:r>
              <a:rPr/>
              <a:t>Kalau sudah selesai modul, buat 1 project nyata</a:t>
            </a:r>
          </a:p>
        </p:txBody>
      </p:sp>
      <p:sp>
        <p:nvSpPr>
          <p:cNvPr id="4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Template Project (Wajib Ada)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1) Problem statement (apa yang diprediksi, untuk siapa)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2) Data: sumber, jumlah, fitur/target, pembersihan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3) Baseline sederhana (model paling simple dulu)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4) Evaluasi: metric yang tepat + interpretasi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5) Improvement: 2–3 eksperimen dan catat hasil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6) Kesimpulan: kapan model bisa dipakai, kapan tidak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Roadmap Latihan 2 Minggu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8408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Hari 1-2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0720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3081528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Hari 3-4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1032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184648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Hari 5-7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3448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287768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Minggu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16567" y="1828800"/>
            <a:ext cx="274320" cy="320040"/>
          </a:xfrm>
          <a:prstGeom prst="rightArrow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latin typeface="Segoe U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390888" y="1600200"/>
            <a:ext cx="1828800" cy="7772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ED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1089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Hari 1–2: Regression + R² + visualisasi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Hari 3–4: Classification + confusion matrix + depth tuning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Hari 5–7: NN + epoch/batch + overfitting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Minggu 2: CNN + eksperimen arsitektur sederhana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Project: 1 kasus nyata + README hasil</a:t>
            </a:r>
          </a:p>
        </p:txBody>
      </p:sp>
      <p:sp>
        <p:nvSpPr>
          <p:cNvPr id="13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66CC"/>
                </a:solidFill>
                <a:latin typeface="Segoe UI Semibold"/>
              </a:defRPr>
            </a:pPr>
            <a:r>
              <a:rPr/>
              <a:t>Penutup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Skill inti AI developer pemula: mengukur hasil (metric) dan menjelaskan 'mengapa'.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Saran: ulangi tiap modul 2x sambil ubah parameter dan catat.</a:t>
            </a:r>
          </a:p>
          <a:p>
            <a:pPr>
              <a:spcAft>
                <a:spcPts val="5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rPr/>
              <a:t>Referensi: BUKU_PANDUAN_AI.pdf (buku) untuk penjelasan lebih panjang.</a:t>
            </a:r>
          </a:p>
        </p:txBody>
      </p:sp>
      <p:sp>
        <p:nvSpPr>
          <p:cNvPr id="5" name="__accent_bar__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